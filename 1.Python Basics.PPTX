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5" d="100"/>
          <a:sy n="55" d="100"/>
        </p:scale>
        <p:origin x="-78" y="-29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Diagonal Corner Rectangle 6"/>
          <p:cNvSpPr/>
          <p:nvPr/>
        </p:nvSpPr>
        <p:spPr>
          <a:xfrm>
            <a:off x="164592" y="146304"/>
            <a:ext cx="8814816" cy="2505456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64234" y="381001"/>
            <a:ext cx="8229600" cy="2209800"/>
          </a:xfrm>
        </p:spPr>
        <p:txBody>
          <a:bodyPr lIns="45720" rIns="228600" anchor="b">
            <a:normAutofit/>
          </a:bodyPr>
          <a:lstStyle>
            <a:lvl1pPr marL="0" algn="r">
              <a:defRPr sz="480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133600" y="2819400"/>
            <a:ext cx="6560234" cy="1752600"/>
          </a:xfrm>
        </p:spPr>
        <p:txBody>
          <a:bodyPr lIns="45720" rIns="246888"/>
          <a:lstStyle>
            <a:lvl1pPr marL="0" indent="0" algn="r">
              <a:spcBef>
                <a:spcPts val="0"/>
              </a:spcBef>
              <a:buNone/>
              <a:defRPr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>
          <a:xfrm>
            <a:off x="5562600" y="6509004"/>
            <a:ext cx="3002280" cy="274320"/>
          </a:xfrm>
        </p:spPr>
        <p:txBody>
          <a:bodyPr vert="horz" rtlCol="0"/>
          <a:lstStyle>
            <a:extLst/>
          </a:lstStyle>
          <a:p>
            <a:fld id="{1D8BD707-D9CF-40AE-B4C6-C98DA3205C09}" type="datetimeFigureOut">
              <a:rPr lang="en-US" smtClean="0"/>
              <a:pPr/>
              <a:t>15-Aug-22</a:t>
            </a:fld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>
          <a:xfrm>
            <a:off x="1600200" y="6509004"/>
            <a:ext cx="3907464" cy="274320"/>
          </a:xfrm>
        </p:spPr>
        <p:txBody>
          <a:bodyPr vert="horz" rtlCol="0"/>
          <a:lstStyle>
            <a:extLst/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15-Aug-22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0128" y="3267456"/>
            <a:ext cx="74066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498230"/>
            <a:ext cx="7772400" cy="2731008"/>
          </a:xfrm>
        </p:spPr>
        <p:txBody>
          <a:bodyPr rIns="100584"/>
          <a:lstStyle>
            <a:lvl1pPr algn="r">
              <a:buNone/>
              <a:defRPr sz="4000" b="1" cap="none">
                <a:solidFill>
                  <a:schemeClr val="accent1">
                    <a:tint val="95000"/>
                    <a:satMod val="200000"/>
                  </a:schemeClr>
                </a:solidFill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287713"/>
            <a:ext cx="7772400" cy="1509712"/>
          </a:xfrm>
        </p:spPr>
        <p:txBody>
          <a:bodyPr rIns="128016" anchor="t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62600" y="6513670"/>
            <a:ext cx="3002280" cy="274320"/>
          </a:xfrm>
        </p:spPr>
        <p:txBody>
          <a:bodyPr vert="horz" rtlCol="0"/>
          <a:lstStyle>
            <a:extLst/>
          </a:lstStyle>
          <a:p>
            <a:fld id="{1D8BD707-D9CF-40AE-B4C6-C98DA3205C09}" type="datetimeFigureOut">
              <a:rPr lang="en-US" smtClean="0"/>
              <a:pPr/>
              <a:t>15-Aug-22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>
          <a:xfrm>
            <a:off x="1600200" y="6513670"/>
            <a:ext cx="3907464" cy="274320"/>
          </a:xfrm>
        </p:spPr>
        <p:txBody>
          <a:bodyPr vert="horz" rtlCol="0"/>
          <a:lstStyle>
            <a:extLst/>
          </a:lstStyle>
          <a:p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15-Aug-22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41080" y="6514568"/>
            <a:ext cx="464288" cy="274320"/>
          </a:xfrm>
        </p:spPr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616744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4800600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1948"/>
            <a:ext cx="8229600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941763"/>
          </a:xfrm>
        </p:spPr>
        <p:txBody>
          <a:bodyPr lIns="9144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94176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15-Aug-22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41080" y="6514568"/>
            <a:ext cx="464288" cy="274320"/>
          </a:xfrm>
        </p:spPr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3218"/>
            <a:ext cx="822960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15-Aug-22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15-Aug-22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5057552" y="105765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3136" y="304800"/>
            <a:ext cx="3931920" cy="762000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963136" y="1107560"/>
            <a:ext cx="3931920" cy="1066800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228600" y="2209800"/>
            <a:ext cx="8666456" cy="3977640"/>
          </a:xfrm>
        </p:spPr>
        <p:txBody>
          <a:bodyPr/>
          <a:lstStyle>
            <a:lvl1pPr marL="292608">
              <a:defRPr sz="3200"/>
            </a:lvl1pPr>
            <a:lvl2pPr marL="594360">
              <a:defRPr sz="2800"/>
            </a:lvl2pPr>
            <a:lvl3pPr marL="822960">
              <a:defRPr sz="2400"/>
            </a:lvl3pPr>
            <a:lvl4pPr marL="1051560">
              <a:defRPr sz="2000"/>
            </a:lvl4pPr>
            <a:lvl5pPr marL="1261872"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5562600" y="6513670"/>
            <a:ext cx="3002280" cy="274320"/>
          </a:xfrm>
        </p:spPr>
        <p:txBody>
          <a:bodyPr vert="horz" rtlCol="0"/>
          <a:lstStyle>
            <a:extLst/>
          </a:lstStyle>
          <a:p>
            <a:fld id="{1D8BD707-D9CF-40AE-B4C6-C98DA3205C09}" type="datetimeFigureOut">
              <a:rPr lang="en-US" smtClean="0"/>
              <a:pPr/>
              <a:t>15-Aug-22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>
          <a:xfrm>
            <a:off x="1600200" y="6513670"/>
            <a:ext cx="3907464" cy="274320"/>
          </a:xfrm>
        </p:spPr>
        <p:txBody>
          <a:bodyPr vert="horz" rtlCol="0"/>
          <a:lstStyle>
            <a:extLst/>
          </a:lstStyle>
          <a:p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0443" y="4724400"/>
            <a:ext cx="5486400" cy="664536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0443" y="5388936"/>
            <a:ext cx="5486400" cy="912255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idx="1"/>
          </p:nvPr>
        </p:nvSpPr>
        <p:spPr>
          <a:xfrm>
            <a:off x="304800" y="249864"/>
            <a:ext cx="8534400" cy="4343400"/>
          </a:xfrm>
          <a:prstGeom prst="round2DiagRect">
            <a:avLst>
              <a:gd name="adj1" fmla="val 11403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  <a:extLst/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62600" y="6509004"/>
            <a:ext cx="3002280" cy="274320"/>
          </a:xfrm>
        </p:spPr>
        <p:txBody>
          <a:bodyPr vert="horz" rtlCol="0"/>
          <a:lstStyle>
            <a:extLst/>
          </a:lstStyle>
          <a:p>
            <a:fld id="{1D8BD707-D9CF-40AE-B4C6-C98DA3205C09}" type="datetimeFigureOut">
              <a:rPr lang="en-US" smtClean="0"/>
              <a:pPr/>
              <a:t>15-Aug-22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>
          <a:xfrm>
            <a:off x="1600200" y="6509004"/>
            <a:ext cx="3907464" cy="274320"/>
          </a:xfrm>
        </p:spPr>
        <p:txBody>
          <a:bodyPr vert="horz" rtlCol="0"/>
          <a:lstStyle>
            <a:extLst/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15-Aug-22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15-Aug-22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Diagonal Corner Rectangle 6"/>
          <p:cNvSpPr/>
          <p:nvPr/>
        </p:nvSpPr>
        <p:spPr>
          <a:xfrm>
            <a:off x="164592" y="147085"/>
            <a:ext cx="8810846" cy="6565392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95400" y="6400800"/>
            <a:ext cx="4212264" cy="274320"/>
          </a:xfrm>
          <a:prstGeom prst="rect">
            <a:avLst/>
          </a:prstGeom>
        </p:spPr>
        <p:txBody>
          <a:bodyPr/>
          <a:lstStyle>
            <a:lvl1pPr algn="r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562600" y="6400800"/>
            <a:ext cx="3002280" cy="274320"/>
          </a:xfrm>
          <a:prstGeom prst="rect">
            <a:avLst/>
          </a:prstGeom>
        </p:spPr>
        <p:txBody>
          <a:bodyPr/>
          <a:lstStyle>
            <a:lvl1pPr algn="l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15-Aug-22</a:t>
            </a:fld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638952" y="6514568"/>
            <a:ext cx="464288" cy="274320"/>
          </a:xfrm>
          <a:prstGeom prst="rect">
            <a:avLst/>
          </a:prstGeom>
        </p:spPr>
        <p:txBody>
          <a:bodyPr anchor="ctr"/>
          <a:lstStyle>
            <a:lvl1pPr algn="r" eaLnBrk="1" latinLnBrk="0" hangingPunct="1">
              <a:defRPr kumimoji="0" sz="1600">
                <a:solidFill>
                  <a:schemeClr val="tx2">
                    <a:shade val="90000"/>
                  </a:schemeClr>
                </a:solidFill>
                <a:effectLst/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53536"/>
            <a:ext cx="8229600" cy="1143000"/>
          </a:xfrm>
          <a:prstGeom prst="rect">
            <a:avLst/>
          </a:prstGeom>
        </p:spPr>
        <p:txBody>
          <a:bodyPr rIns="91440" anchor="b">
            <a:normAutofit/>
            <a:scene3d>
              <a:camera prst="orthographicFront"/>
              <a:lightRig rig="soft" dir="t">
                <a:rot lat="0" lon="0" rev="2400000"/>
              </a:lightRig>
            </a:scene3d>
            <a:sp3d>
              <a:bevelT w="19050" h="127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46237"/>
            <a:ext cx="8229600" cy="452628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marL="54864" algn="r" rtl="0" eaLnBrk="1" latinLnBrk="0" hangingPunct="1">
        <a:spcBef>
          <a:spcPct val="0"/>
        </a:spcBef>
        <a:buNone/>
        <a:defRPr kumimoji="0" sz="4600" kern="1200">
          <a:solidFill>
            <a:schemeClr val="tx2">
              <a:tint val="100000"/>
              <a:shade val="90000"/>
              <a:satMod val="250000"/>
              <a:alpha val="100000"/>
            </a:schemeClr>
          </a:solidFill>
          <a:effectLst>
            <a:outerShdw blurRad="38100" dist="25500" dir="5400000" algn="tl" rotWithShape="0">
              <a:srgbClr val="000000">
                <a:satMod val="180000"/>
                <a:alpha val="7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292100" indent="-292100" algn="l" rtl="0" eaLnBrk="1" latinLnBrk="0" hangingPunct="1">
        <a:spcBef>
          <a:spcPts val="0"/>
        </a:spcBef>
        <a:buClr>
          <a:schemeClr val="accent1"/>
        </a:buClr>
        <a:buSzPct val="70000"/>
        <a:buFont typeface="Wingdings 2"/>
        <a:buChar char="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rtl="0" eaLnBrk="1" latinLnBrk="0" hangingPunct="1">
        <a:spcBef>
          <a:spcPts val="400"/>
        </a:spcBef>
        <a:buClr>
          <a:schemeClr val="accent2"/>
        </a:buClr>
        <a:buSzPct val="90000"/>
        <a:buFontTx/>
        <a:buChar char="•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192024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Python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3429000"/>
            <a:ext cx="8001000" cy="2286000"/>
          </a:xfrm>
        </p:spPr>
        <p:txBody>
          <a:bodyPr/>
          <a:lstStyle/>
          <a:p>
            <a:r>
              <a:rPr lang="en-US" dirty="0" smtClean="0"/>
              <a:t>Introduction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Python?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Python is an interpreted,  interactive, object-oriented programming language.</a:t>
            </a:r>
          </a:p>
          <a:p>
            <a:r>
              <a:rPr lang="en-US" dirty="0" smtClean="0"/>
              <a:t>It incorporates modules, exceptions, dynamic typing, very high level dynamic data types, and classes. </a:t>
            </a:r>
          </a:p>
          <a:p>
            <a:r>
              <a:rPr lang="en-US" dirty="0" smtClean="0"/>
              <a:t>It </a:t>
            </a:r>
            <a:r>
              <a:rPr lang="en-US" dirty="0" smtClean="0"/>
              <a:t>supports multiple programming paradigms beyond object-oriented programming, such as procedural and functional programming.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Python?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Python is open source.</a:t>
            </a:r>
          </a:p>
          <a:p>
            <a:r>
              <a:rPr lang="en-US" dirty="0" smtClean="0"/>
              <a:t>No cost for procuring python. </a:t>
            </a:r>
          </a:p>
          <a:p>
            <a:r>
              <a:rPr lang="en-US" dirty="0" smtClean="0"/>
              <a:t>Python is less verbose. We write less in python as compared to other languages and we spent less time in coding in python.</a:t>
            </a:r>
          </a:p>
          <a:p>
            <a:r>
              <a:rPr lang="en-US" dirty="0" smtClean="0"/>
              <a:t>Python syntax  is much simpler and more flexible than other programming languages. 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Types of Application built using Python: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Desktop GUI  Application</a:t>
            </a:r>
          </a:p>
          <a:p>
            <a:pPr lvl="1"/>
            <a:r>
              <a:rPr lang="en-US" dirty="0" smtClean="0"/>
              <a:t>Google chrome</a:t>
            </a:r>
          </a:p>
          <a:p>
            <a:r>
              <a:rPr lang="en-US" dirty="0" smtClean="0"/>
              <a:t>Web Application</a:t>
            </a:r>
          </a:p>
          <a:p>
            <a:pPr lvl="1"/>
            <a:r>
              <a:rPr lang="en-US" dirty="0" err="1" smtClean="0"/>
              <a:t>I</a:t>
            </a:r>
            <a:r>
              <a:rPr lang="en-US" dirty="0" err="1" smtClean="0"/>
              <a:t>nstagram</a:t>
            </a:r>
            <a:endParaRPr lang="en-US" dirty="0" smtClean="0"/>
          </a:p>
          <a:p>
            <a:r>
              <a:rPr lang="en-US" dirty="0" smtClean="0"/>
              <a:t>Embedded Systems</a:t>
            </a:r>
          </a:p>
          <a:p>
            <a:pPr lvl="1"/>
            <a:r>
              <a:rPr lang="en-US" dirty="0" smtClean="0"/>
              <a:t>IOT  </a:t>
            </a:r>
          </a:p>
          <a:p>
            <a:r>
              <a:rPr lang="en-US" dirty="0" smtClean="0"/>
              <a:t>Mobile Applications</a:t>
            </a:r>
          </a:p>
          <a:p>
            <a:pPr lvl="1"/>
            <a:r>
              <a:rPr lang="en-US" dirty="0" err="1" smtClean="0"/>
              <a:t>P</a:t>
            </a:r>
            <a:r>
              <a:rPr lang="en-US" dirty="0" err="1" smtClean="0"/>
              <a:t>yMob</a:t>
            </a:r>
            <a:r>
              <a:rPr lang="en-US" dirty="0" smtClean="0"/>
              <a:t> </a:t>
            </a:r>
          </a:p>
          <a:p>
            <a:r>
              <a:rPr lang="en-US" dirty="0" smtClean="0"/>
              <a:t>Game Development</a:t>
            </a:r>
          </a:p>
          <a:p>
            <a:pPr lvl="1"/>
            <a:r>
              <a:rPr lang="en-US" dirty="0" smtClean="0"/>
              <a:t>World of tanks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Future for Python Developers: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Data science &amp; Data Analysis</a:t>
            </a:r>
          </a:p>
          <a:p>
            <a:r>
              <a:rPr lang="en-US" dirty="0" smtClean="0"/>
              <a:t>Machine Learning &amp; Artificial Intelligence</a:t>
            </a:r>
          </a:p>
          <a:p>
            <a:r>
              <a:rPr lang="en-US" dirty="0" smtClean="0"/>
              <a:t>IOT</a:t>
            </a:r>
          </a:p>
          <a:p>
            <a:r>
              <a:rPr lang="en-US" dirty="0" smtClean="0"/>
              <a:t>Bio-Python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Constants in Python: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Constant in python is any value that is fixed, that does not change.</a:t>
            </a:r>
          </a:p>
          <a:p>
            <a:r>
              <a:rPr lang="en-US" dirty="0" smtClean="0"/>
              <a:t>Types of constants in python:</a:t>
            </a:r>
          </a:p>
          <a:p>
            <a:pPr lvl="1"/>
            <a:r>
              <a:rPr lang="en-US" dirty="0" smtClean="0"/>
              <a:t>Integer constants</a:t>
            </a:r>
          </a:p>
          <a:p>
            <a:pPr lvl="1"/>
            <a:r>
              <a:rPr lang="en-US" dirty="0" smtClean="0"/>
              <a:t>Floating points constants</a:t>
            </a:r>
          </a:p>
          <a:p>
            <a:pPr lvl="1"/>
            <a:r>
              <a:rPr lang="en-US" dirty="0" smtClean="0"/>
              <a:t>String constants</a:t>
            </a:r>
          </a:p>
          <a:p>
            <a:pPr lvl="1"/>
            <a:r>
              <a:rPr lang="en-US" dirty="0" smtClean="0"/>
              <a:t>Boolean constants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Integer constants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Integer constants are non-decimal numbers.</a:t>
            </a:r>
          </a:p>
          <a:p>
            <a:r>
              <a:rPr lang="en-US" dirty="0" smtClean="0"/>
              <a:t>Can be positive or negative.</a:t>
            </a:r>
          </a:p>
          <a:p>
            <a:r>
              <a:rPr lang="en-US" dirty="0" smtClean="0"/>
              <a:t>Math based constants. We can perform operations of these.</a:t>
            </a:r>
          </a:p>
          <a:p>
            <a:r>
              <a:rPr lang="en-US" dirty="0" smtClean="0"/>
              <a:t>For example: 6, -6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Floating point constants: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Floating point constants are decimal numbers.</a:t>
            </a:r>
          </a:p>
          <a:p>
            <a:r>
              <a:rPr lang="en-US" dirty="0" smtClean="0"/>
              <a:t>Can be positive or negative.</a:t>
            </a:r>
          </a:p>
          <a:p>
            <a:r>
              <a:rPr lang="en-US" dirty="0" smtClean="0"/>
              <a:t>Math based constants. We  can perform math operations on these.</a:t>
            </a:r>
          </a:p>
          <a:p>
            <a:r>
              <a:rPr lang="en-US" dirty="0" smtClean="0"/>
              <a:t>For example:   6.5,    -6.5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String constants: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String  constants are non-math based collection of alphabets,  numbers and special symbols.</a:t>
            </a:r>
          </a:p>
          <a:p>
            <a:r>
              <a:rPr lang="en-US" dirty="0" smtClean="0"/>
              <a:t>We cannot perform math operations  on strings.</a:t>
            </a:r>
          </a:p>
          <a:p>
            <a:r>
              <a:rPr lang="en-US" dirty="0" smtClean="0"/>
              <a:t>String constant need to be enclosed within “” (double quotes) or ‘’ (single quotes). </a:t>
            </a:r>
          </a:p>
          <a:p>
            <a:r>
              <a:rPr lang="en-US" dirty="0" smtClean="0"/>
              <a:t>For example: 		“string” , ‘&amp;’, “456789”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Boolean constants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 smtClean="0"/>
              <a:t>B</a:t>
            </a:r>
            <a:r>
              <a:rPr lang="en-US" dirty="0" smtClean="0"/>
              <a:t>oolean constants just have two values</a:t>
            </a:r>
          </a:p>
          <a:p>
            <a:r>
              <a:rPr lang="en-US" dirty="0" smtClean="0"/>
              <a:t>For example:</a:t>
            </a:r>
          </a:p>
          <a:p>
            <a:pPr lvl="1"/>
            <a:r>
              <a:rPr lang="en-US" dirty="0" smtClean="0"/>
              <a:t>True and False. </a:t>
            </a:r>
          </a:p>
          <a:p>
            <a:pPr lvl="1"/>
            <a:r>
              <a:rPr lang="en-US" dirty="0" smtClean="0"/>
              <a:t>5 != 5.0 != “5”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Keywords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Keywords are built-in or the pre-defined words of python.</a:t>
            </a:r>
          </a:p>
          <a:p>
            <a:r>
              <a:rPr lang="en-US" dirty="0" smtClean="0"/>
              <a:t>Limited number of keywords exists:</a:t>
            </a:r>
          </a:p>
          <a:p>
            <a:r>
              <a:rPr lang="en-US" dirty="0" smtClean="0"/>
              <a:t>For example: True, False, if, else, for, while…..</a:t>
            </a:r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oundry">
  <a:themeElements>
    <a:clrScheme name="Foundry">
      <a:dk1>
        <a:sysClr val="windowText" lastClr="000000"/>
      </a:dk1>
      <a:lt1>
        <a:sysClr val="window" lastClr="FFFFFF"/>
      </a:lt1>
      <a:dk2>
        <a:srgbClr val="676A55"/>
      </a:dk2>
      <a:lt2>
        <a:srgbClr val="EAEBDE"/>
      </a:lt2>
      <a:accent1>
        <a:srgbClr val="72A376"/>
      </a:accent1>
      <a:accent2>
        <a:srgbClr val="B0CCB0"/>
      </a:accent2>
      <a:accent3>
        <a:srgbClr val="A8CDD7"/>
      </a:accent3>
      <a:accent4>
        <a:srgbClr val="C0BEAF"/>
      </a:accent4>
      <a:accent5>
        <a:srgbClr val="CEC597"/>
      </a:accent5>
      <a:accent6>
        <a:srgbClr val="E8B7B7"/>
      </a:accent6>
      <a:hlink>
        <a:srgbClr val="DB5353"/>
      </a:hlink>
      <a:folHlink>
        <a:srgbClr val="903638"/>
      </a:folHlink>
    </a:clrScheme>
    <a:fontScheme name="Foundry">
      <a:maj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oundry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80000"/>
              </a:schemeClr>
            </a:gs>
            <a:gs pos="62000">
              <a:schemeClr val="phClr">
                <a:tint val="30000"/>
                <a:satMod val="180000"/>
              </a:schemeClr>
            </a:gs>
            <a:gs pos="100000">
              <a:schemeClr val="phClr">
                <a:tint val="22000"/>
                <a:satMod val="18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8000"/>
                <a:satMod val="150000"/>
              </a:schemeClr>
            </a:gs>
            <a:gs pos="72000">
              <a:schemeClr val="phClr">
                <a:tint val="90000"/>
                <a:satMod val="135000"/>
              </a:schemeClr>
            </a:gs>
            <a:gs pos="100000">
              <a:schemeClr val="phClr">
                <a:tint val="8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80000"/>
            </a:schemeClr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000000"/>
            </a:lightRig>
          </a:scene3d>
          <a:sp3d prstMaterial="matte">
            <a:bevelT w="63500" h="635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5000"/>
                <a:satMod val="400000"/>
              </a:schemeClr>
            </a:gs>
            <a:gs pos="20000">
              <a:schemeClr val="phClr">
                <a:tint val="80000"/>
                <a:satMod val="355000"/>
              </a:schemeClr>
            </a:gs>
            <a:gs pos="100000">
              <a:schemeClr val="phClr">
                <a:tint val="95000"/>
                <a:shade val="55000"/>
                <a:satMod val="355000"/>
              </a:schemeClr>
            </a:gs>
          </a:gsLst>
          <a:path path="circle">
            <a:fillToRect l="67500" t="35000" r="32500" b="65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0"/>
                <a:satMod val="120000"/>
              </a:schemeClr>
              <a:schemeClr val="phClr">
                <a:tint val="70000"/>
                <a:satMod val="250000"/>
              </a:schemeClr>
            </a:duotone>
          </a:blip>
          <a:tile tx="0" ty="0" sx="50000" sy="50000" flip="none" algn="t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Foundry</Template>
  <TotalTime>32</TotalTime>
  <Words>350</Words>
  <Application>Microsoft Office PowerPoint</Application>
  <PresentationFormat>On-screen Show (4:3)</PresentationFormat>
  <Paragraphs>58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Foundry</vt:lpstr>
      <vt:lpstr>Python</vt:lpstr>
      <vt:lpstr>What is Python?</vt:lpstr>
      <vt:lpstr>Why Python?</vt:lpstr>
      <vt:lpstr>Types of Application built using Python:</vt:lpstr>
      <vt:lpstr>Future for Python Developers:</vt:lpstr>
      <vt:lpstr>Constants in Python:</vt:lpstr>
      <vt:lpstr>Integer constants</vt:lpstr>
      <vt:lpstr>Floating point constants:</vt:lpstr>
      <vt:lpstr>String constants:</vt:lpstr>
      <vt:lpstr>Boolean constants</vt:lpstr>
      <vt:lpstr>Keywords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</dc:title>
  <dc:creator>Puneet</dc:creator>
  <cp:lastModifiedBy>Puneet</cp:lastModifiedBy>
  <cp:revision>5</cp:revision>
  <dcterms:created xsi:type="dcterms:W3CDTF">2006-08-16T00:00:00Z</dcterms:created>
  <dcterms:modified xsi:type="dcterms:W3CDTF">2022-08-15T10:00:25Z</dcterms:modified>
</cp:coreProperties>
</file>